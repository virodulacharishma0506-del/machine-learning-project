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F76C5E">
              <a:alpha val="15000"/>
            </a:srgbClr>
          </a:solidFill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96012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Sports &amp; Entertainment: Match Outcome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Prediction Using Logistic Regression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and Random Forest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6C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5120640" cy="1897380"/>
          </a:xfrm>
          <a:prstGeom prst="roundRect">
            <a:avLst>
              <a:gd name="adj" fmla="val 4571"/>
            </a:avLst>
          </a:prstGeom>
          <a:solidFill>
            <a:srgbClr val="1B2A4A"/>
          </a:solidFill>
        </p:spPr>
      </p:sp>
      <p:sp>
        <p:nvSpPr>
          <p:cNvPr id="8" name="Text 6"/>
          <p:cNvSpPr txBox="1"/>
          <p:nvPr/>
        </p:nvSpPr>
        <p:spPr>
          <a:xfrm>
            <a:off x="1005840" y="4114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348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Jakka Bhanu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7CE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2520030006   |   Section 8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749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V. Charishma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7CE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2520030140   |   Section 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3977640"/>
            <a:ext cx="5120640" cy="1897380"/>
          </a:xfrm>
          <a:prstGeom prst="roundRect">
            <a:avLst>
              <a:gd name="adj" fmla="val 4571"/>
            </a:avLst>
          </a:prstGeom>
          <a:solidFill>
            <a:srgbClr val="1B2A4A"/>
          </a:solidFill>
        </p:spPr>
      </p:sp>
      <p:sp>
        <p:nvSpPr>
          <p:cNvPr id="12" name="Text 10"/>
          <p:cNvSpPr txBox="1"/>
          <p:nvPr/>
        </p:nvSpPr>
        <p:spPr>
          <a:xfrm>
            <a:off x="6309360" y="4114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48056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Shaik Asif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7CE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 Professor, CSE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7F7F5"/>
          </a:solidFill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6126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whether a given team wins or loses an IPL match — framed as a supervised </a:t>
            </a: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classification</a:t>
            </a:r>
            <a:r>
              <a:rPr lang="en-US" sz="15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problem, using pre-match and historical performance features.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9728" cy="109728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7" name="Text 5"/>
          <p:cNvSpPr txBox="1"/>
          <p:nvPr/>
        </p:nvSpPr>
        <p:spPr>
          <a:xfrm>
            <a:off x="1005840" y="289864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72968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result (win / loss) for a specified team, from the winner column.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730752"/>
            <a:ext cx="109728" cy="109728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10" name="Text 8"/>
          <p:cNvSpPr txBox="1"/>
          <p:nvPr/>
        </p:nvSpPr>
        <p:spPr>
          <a:xfrm>
            <a:off x="1005840" y="36118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features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88620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team form, head-to-head record, venue/home advantage, toss outcome.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3984"/>
            <a:ext cx="109728" cy="109728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13" name="Text 11"/>
          <p:cNvSpPr txBox="1"/>
          <p:nvPr/>
        </p:nvSpPr>
        <p:spPr>
          <a:xfrm>
            <a:off x="1005840" y="4325112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599432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predictions rely on intuition; ML can uncover interacting patterns invisible to simple stats.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157216"/>
            <a:ext cx="109728" cy="109728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16" name="Text 14"/>
          <p:cNvSpPr txBox="1"/>
          <p:nvPr/>
        </p:nvSpPr>
        <p:spPr>
          <a:xfrm>
            <a:off x="1005840" y="503834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goal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12664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an interpretable baseline (Logistic Regression) against an ensemble model (Random Forest) — accuracy vs. interpretability.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141732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1490472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Binary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98424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task: Win (1) vs Loss (0)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5146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F76C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2587752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6C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Models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308152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 vs.  Random Forest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3611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685032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B1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Metrics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17880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· Precision · Recall · F1 · Confusion Matrix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470916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</p:spPr>
      </p:sp>
      <p:sp>
        <p:nvSpPr>
          <p:cNvPr id="28" name="Text 26"/>
          <p:cNvSpPr txBox="1"/>
          <p:nvPr/>
        </p:nvSpPr>
        <p:spPr>
          <a:xfrm>
            <a:off x="7726680" y="4846320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value: fans, broadcasters, team management &amp; sports analytics platforms.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Identification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IPL Complete Dataset (2008–2024)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Kaggle, authored by Prateek Bhardwaj — covers every IPL season from inception through 2024.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0487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1,095 × 20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9864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matches.csv — match-level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3317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F76C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40487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6C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260,920 × 17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89864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deliveries.csv — ball-by-ball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40487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B1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2008–2024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898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seasons of IPL cricket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3520440"/>
          <a:ext cx="11247120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4846320"/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Columns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matches.csv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Match-level summary for every IPL match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season, city, venue, team1/2, toss_winner, toss_decision, winner, result_margin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deliveries.csv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Ball-by-ball record for every delivery bowled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match_id, inning, batting_team, bowling_team, over, ball, batter, bowler, total_runs, is_wicket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52120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7F7F5"/>
          </a:solidFill>
        </p:spPr>
      </p:sp>
      <p:sp>
        <p:nvSpPr>
          <p:cNvPr id="16" name="Text 13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dataset: </a:t>
            </a:r>
            <a:r>
              <a:rPr lang="en-US" sz="12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IPL history gives sufficient volume/variety; combining match-level + ball-by-ball data enables rich engineered features (recent form, head-to-head, venue trends); clear target variable for binary classification.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matches.csv  —  df.shape / df.head()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245" y="1706880"/>
            <a:ext cx="7651115" cy="4578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1430"/>
            <a:ext cx="5486400" cy="394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deliveries.csv  —  df.shape / df.head()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95" y="1682750"/>
            <a:ext cx="7179310" cy="4560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 — matches.isnull().sum()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0" cy="4434840"/>
          </a:xfrm>
          <a:prstGeom prst="roundRect">
            <a:avLst>
              <a:gd name="adj" fmla="val 1237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pic>
        <p:nvPicPr>
          <p:cNvPr id="6" name="Image 0" descr="/home/claude/ppt_assets/missing_da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6748"/>
            <a:ext cx="4663440" cy="41017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1417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cleaning steps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1874520"/>
            <a:ext cx="5852160" cy="960120"/>
          </a:xfrm>
          <a:prstGeom prst="roundRect">
            <a:avLst>
              <a:gd name="adj" fmla="val 6667"/>
            </a:avLst>
          </a:prstGeom>
          <a:solidFill>
            <a:srgbClr val="F7F7F5"/>
          </a:solidFill>
        </p:spPr>
      </p:sp>
      <p:sp>
        <p:nvSpPr>
          <p:cNvPr id="9" name="Text 6"/>
          <p:cNvSpPr txBox="1"/>
          <p:nvPr/>
        </p:nvSpPr>
        <p:spPr>
          <a:xfrm>
            <a:off x="6080760" y="194767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6C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 (1074 missing)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25856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matches aren't decided by DLS — expected and safe to ignore/flag.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2971800"/>
            <a:ext cx="5852160" cy="960120"/>
          </a:xfrm>
          <a:prstGeom prst="roundRect">
            <a:avLst>
              <a:gd name="adj" fmla="val 6667"/>
            </a:avLst>
          </a:prstGeom>
          <a:solidFill>
            <a:srgbClr val="F7F7F5"/>
          </a:solidFill>
        </p:spPr>
      </p:sp>
      <p:sp>
        <p:nvSpPr>
          <p:cNvPr id="12" name="Text 9"/>
          <p:cNvSpPr txBox="1"/>
          <p:nvPr/>
        </p:nvSpPr>
        <p:spPr>
          <a:xfrm>
            <a:off x="6080760" y="304495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6C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result_margin (19), target_runs (3), target_overs (3)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35584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counts — tie/no-result matches; handled separately.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52160" y="4069080"/>
            <a:ext cx="5852160" cy="960120"/>
          </a:xfrm>
          <a:prstGeom prst="roundRect">
            <a:avLst>
              <a:gd name="adj" fmla="val 6667"/>
            </a:avLst>
          </a:prstGeom>
          <a:solidFill>
            <a:srgbClr val="F7F7F5"/>
          </a:solidFill>
        </p:spPr>
      </p:sp>
      <p:sp>
        <p:nvSpPr>
          <p:cNvPr id="15" name="Text 12"/>
          <p:cNvSpPr txBox="1"/>
          <p:nvPr/>
        </p:nvSpPr>
        <p:spPr>
          <a:xfrm>
            <a:off x="6080760" y="414223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6C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 (51), player_of_match (5), winner (5)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445312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 gaps; rows reviewed and either filled from venue or dropped.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52160" y="5166360"/>
            <a:ext cx="5852160" cy="960120"/>
          </a:xfrm>
          <a:prstGeom prst="roundRect">
            <a:avLst>
              <a:gd name="adj" fmla="val 6667"/>
            </a:avLst>
          </a:prstGeom>
          <a:solidFill>
            <a:srgbClr val="F7F7F5"/>
          </a:solidFill>
        </p:spPr>
      </p:sp>
      <p:sp>
        <p:nvSpPr>
          <p:cNvPr id="18" name="Text 15"/>
          <p:cNvSpPr txBox="1"/>
          <p:nvPr/>
        </p:nvSpPr>
        <p:spPr>
          <a:xfrm>
            <a:off x="6080760" y="523951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6C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Franchise renaming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080760" y="555040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 Daredevils → Delhi Capitals, Deccan Chargers → Sunrisers Hyderabad, Kings XI Punjab → Punjab Kings — standardized with .replace() across team1, team2, winner.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Team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383280" cy="4572000"/>
          </a:xfrm>
          <a:prstGeom prst="roundRect">
            <a:avLst>
              <a:gd name="adj" fmla="val 1622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winner.value_counts()</a:t>
            </a:r>
            <a:endParaRPr lang="en-US" sz="1100" dirty="0"/>
          </a:p>
        </p:txBody>
      </p:sp>
      <p:pic>
        <p:nvPicPr>
          <p:cNvPr id="6" name="Image 0" descr="/home/claude/ppt_assets/winner_cou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290" y="1783080"/>
            <a:ext cx="2811101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023360" y="4892040"/>
            <a:ext cx="7680960" cy="1097280"/>
          </a:xfrm>
          <a:prstGeom prst="roundRect">
            <a:avLst>
              <a:gd name="adj" fmla="val 5833"/>
            </a:avLst>
          </a:prstGeom>
          <a:solidFill>
            <a:srgbClr val="1B2A4A"/>
          </a:solidFill>
        </p:spPr>
      </p:sp>
      <p:sp>
        <p:nvSpPr>
          <p:cNvPr id="10" name="Text 6"/>
          <p:cNvSpPr txBox="1"/>
          <p:nvPr/>
        </p:nvSpPr>
        <p:spPr>
          <a:xfrm>
            <a:off x="4251960" y="5010912"/>
            <a:ext cx="7223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Mumbai Indians lead with 144 wins, followed by Chennai Super Kings (138) and Kolkata Knight Riders (131). Newer/relocated franchises (Gujarat Titans, Lucknow Super Giants) show far fewer wins — a clear class imbalance to account for in modeling.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510" y="1207770"/>
            <a:ext cx="5419725" cy="3684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6C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Toss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3794760"/>
          </a:xfrm>
          <a:prstGeom prst="roundRect">
            <a:avLst>
              <a:gd name="adj" fmla="val 1446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Toss decision split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417320"/>
            <a:ext cx="5577840" cy="1828800"/>
          </a:xfrm>
          <a:prstGeom prst="roundRect">
            <a:avLst>
              <a:gd name="adj" fmla="val 3000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5087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the toss winner also win the match?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26480" y="34290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F76C5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0" y="3502152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6C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64.3%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39959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to field first after winning toss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006840" y="34290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098280" y="3502152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42.4%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9098280" y="39959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Toss winner also wins the match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4526280"/>
            <a:ext cx="5577840" cy="1463040"/>
          </a:xfrm>
          <a:prstGeom prst="roundRect">
            <a:avLst>
              <a:gd name="adj" fmla="val 4375"/>
            </a:avLst>
          </a:prstGeom>
          <a:solidFill>
            <a:srgbClr val="1B2A4A"/>
          </a:solidFill>
        </p:spPr>
      </p:sp>
      <p:sp>
        <p:nvSpPr>
          <p:cNvPr id="17" name="Text 13"/>
          <p:cNvSpPr txBox="1"/>
          <p:nvPr/>
        </p:nvSpPr>
        <p:spPr>
          <a:xfrm>
            <a:off x="6355080" y="4663440"/>
            <a:ext cx="51206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Winning the toss does NOT strongly predict the match outcome — only 42.4% of toss winners go on to win. Toss should be included as a weak feature, not a dominant predictor.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455" y="1831340"/>
            <a:ext cx="3832225" cy="33629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1932305"/>
            <a:ext cx="4152900" cy="1099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Matches per Season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3794760"/>
          </a:xfrm>
          <a:prstGeom prst="roundRect">
            <a:avLst>
              <a:gd name="adj" fmla="val 1446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1B2A4A"/>
          </a:solidFill>
        </p:spPr>
      </p:sp>
      <p:sp>
        <p:nvSpPr>
          <p:cNvPr id="7" name="Text 4"/>
          <p:cNvSpPr txBox="1"/>
          <p:nvPr/>
        </p:nvSpPr>
        <p:spPr>
          <a:xfrm>
            <a:off x="685800" y="5468112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counts are steady (~55–75/season), with a dip in 2020/21 (COVID-affected season) and a rise from 2022 onward following the league's expansion to 10 teams.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95" y="1551305"/>
            <a:ext cx="863917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Venues &amp; Host Cities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223760" cy="3657600"/>
          </a:xfrm>
          <a:prstGeom prst="roundRect">
            <a:avLst>
              <a:gd name="adj" fmla="val 1500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 venues by match count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63840" y="1417320"/>
            <a:ext cx="3840480" cy="3657600"/>
          </a:xfrm>
          <a:prstGeom prst="roundRect">
            <a:avLst>
              <a:gd name="adj" fmla="val 1500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508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host cities</a:t>
            </a:r>
            <a:endParaRPr lang="en-US" sz="1200" dirty="0"/>
          </a:p>
        </p:txBody>
      </p:sp>
      <p:pic>
        <p:nvPicPr>
          <p:cNvPr id="9" name="Image 1" descr="/home/claude/ppt_assets/cit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783237"/>
            <a:ext cx="3474720" cy="320008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521208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</p:spPr>
      </p:sp>
      <p:sp>
        <p:nvSpPr>
          <p:cNvPr id="11" name="Text 7"/>
          <p:cNvSpPr txBox="1"/>
          <p:nvPr/>
        </p:nvSpPr>
        <p:spPr>
          <a:xfrm>
            <a:off x="685800" y="534924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Eden Gardens, Wankhede, and M. Chinnaswamy host the most matches; top cities (Mumbai, Kolkata, Delhi, Chennai) align with top venues — useful for engineering a home/away advantage feature.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" y="1785620"/>
            <a:ext cx="6771640" cy="3160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Win Margins &amp; Powerplay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 of win margins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417320"/>
            <a:ext cx="5577840" cy="3657600"/>
          </a:xfrm>
          <a:prstGeom prst="roundRect">
            <a:avLst>
              <a:gd name="adj" fmla="val 1500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5087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Powerplay (overs 1–6) runs per match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521208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</p:spPr>
      </p:sp>
      <p:sp>
        <p:nvSpPr>
          <p:cNvPr id="11" name="Text 7"/>
          <p:cNvSpPr txBox="1"/>
          <p:nvPr/>
        </p:nvSpPr>
        <p:spPr>
          <a:xfrm>
            <a:off x="685800" y="534924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 margins are heavily right-skewed — most IPL matches are close (0–20 runs/wickets), few blowouts. Powerplay runs are roughly normally distributed around 100–110, a strong candidate engineered feature.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35" y="1836420"/>
            <a:ext cx="4832985" cy="31013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520" y="1864995"/>
            <a:ext cx="4819650" cy="30727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Correlation Heatmap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7F7F5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5087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1975104"/>
            <a:ext cx="91440" cy="91440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8" name="Text 5"/>
          <p:cNvSpPr txBox="1"/>
          <p:nvPr/>
        </p:nvSpPr>
        <p:spPr>
          <a:xfrm>
            <a:off x="7909560" y="1847088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numeric columns (id, result_margin, target_runs, target_overs) show weak correlations with each other.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80960" y="2688336"/>
            <a:ext cx="91440" cy="91440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10" name="Text 7"/>
          <p:cNvSpPr txBox="1"/>
          <p:nvPr/>
        </p:nvSpPr>
        <p:spPr>
          <a:xfrm>
            <a:off x="7909560" y="256032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target_runs ↔ result_margin: 0.40 — mild positive relationship.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80960" y="3401568"/>
            <a:ext cx="91440" cy="91440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12" name="Text 9"/>
          <p:cNvSpPr txBox="1"/>
          <p:nvPr/>
        </p:nvSpPr>
        <p:spPr>
          <a:xfrm>
            <a:off x="7909560" y="327355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raw column is strongly predictive on its own.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80960" y="42976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</p:spPr>
      </p:sp>
      <p:sp>
        <p:nvSpPr>
          <p:cNvPr id="14" name="Text 11"/>
          <p:cNvSpPr txBox="1"/>
          <p:nvPr/>
        </p:nvSpPr>
        <p:spPr>
          <a:xfrm>
            <a:off x="7909560" y="44348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Implication:  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power will come mainly from engineered features (recent form, head-to-head, venue trends) rather than raw columns — motivating the feature engineering step before modeling.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85" y="1778000"/>
            <a:ext cx="6172835" cy="40747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(Planned)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79576" y="1417320"/>
            <a:ext cx="640080" cy="64008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5" name="Text 3"/>
          <p:cNvSpPr txBox="1"/>
          <p:nvPr/>
        </p:nvSpPr>
        <p:spPr>
          <a:xfrm>
            <a:off x="1179576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7F7F5"/>
          </a:solidFill>
        </p:spPr>
      </p:sp>
      <p:sp>
        <p:nvSpPr>
          <p:cNvPr id="7" name="Text 5"/>
          <p:cNvSpPr txBox="1"/>
          <p:nvPr/>
        </p:nvSpPr>
        <p:spPr>
          <a:xfrm>
            <a:off x="594360" y="224028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181051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nulls, standardize team names, encode categoricals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88036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EE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9000" y="1417320"/>
            <a:ext cx="640080" cy="640080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06624" y="2103120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7F7F5"/>
          </a:solidFill>
        </p:spPr>
      </p:sp>
      <p:sp>
        <p:nvSpPr>
          <p:cNvPr id="13" name="Text 11"/>
          <p:cNvSpPr txBox="1"/>
          <p:nvPr/>
        </p:nvSpPr>
        <p:spPr>
          <a:xfrm>
            <a:off x="2843784" y="224028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843784" y="2788920"/>
            <a:ext cx="181051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form, head-to-head, venue advantage, toss impact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88036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EE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78424" y="1417320"/>
            <a:ext cx="640080" cy="64008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17" name="Text 15"/>
          <p:cNvSpPr txBox="1"/>
          <p:nvPr/>
        </p:nvSpPr>
        <p:spPr>
          <a:xfrm>
            <a:off x="5678424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956048" y="2103120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7F7F5"/>
          </a:solidFill>
        </p:spPr>
      </p:sp>
      <p:sp>
        <p:nvSpPr>
          <p:cNvPr id="19" name="Text 17"/>
          <p:cNvSpPr txBox="1"/>
          <p:nvPr/>
        </p:nvSpPr>
        <p:spPr>
          <a:xfrm>
            <a:off x="5093208" y="224028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Train/Test Split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093208" y="2788920"/>
            <a:ext cx="181051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Chronological split to avoid data leakage across seasons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88036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EE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27848" y="1417320"/>
            <a:ext cx="640080" cy="640080"/>
          </a:xfrm>
          <a:prstGeom prst="ellipse">
            <a:avLst/>
          </a:prstGeom>
          <a:solidFill>
            <a:srgbClr val="F76C5E"/>
          </a:solidFill>
        </p:spPr>
      </p:sp>
      <p:sp>
        <p:nvSpPr>
          <p:cNvPr id="23" name="Text 21"/>
          <p:cNvSpPr txBox="1"/>
          <p:nvPr/>
        </p:nvSpPr>
        <p:spPr>
          <a:xfrm>
            <a:off x="7927848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205472" y="2103120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7F7F5"/>
          </a:solidFill>
        </p:spPr>
      </p:sp>
      <p:sp>
        <p:nvSpPr>
          <p:cNvPr id="25" name="Text 23"/>
          <p:cNvSpPr txBox="1"/>
          <p:nvPr/>
        </p:nvSpPr>
        <p:spPr>
          <a:xfrm>
            <a:off x="7342632" y="224028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342632" y="2788920"/>
            <a:ext cx="181051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(baseline) + Random Forest (ensemble)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288036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EE0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177272" y="1417320"/>
            <a:ext cx="640080" cy="640080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29" name="Text 27"/>
          <p:cNvSpPr txBox="1"/>
          <p:nvPr/>
        </p:nvSpPr>
        <p:spPr>
          <a:xfrm>
            <a:off x="10177272" y="1417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454896" y="2103120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7F7F5"/>
          </a:solidFill>
        </p:spPr>
      </p:sp>
      <p:sp>
        <p:nvSpPr>
          <p:cNvPr id="31" name="Text 29"/>
          <p:cNvSpPr txBox="1"/>
          <p:nvPr/>
        </p:nvSpPr>
        <p:spPr>
          <a:xfrm>
            <a:off x="9592056" y="224028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592056" y="2788920"/>
            <a:ext cx="181051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precision, recall, F1, confusion matrix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</p:spPr>
      </p:sp>
      <p:sp>
        <p:nvSpPr>
          <p:cNvPr id="34" name="Text 32"/>
          <p:cNvSpPr txBox="1"/>
          <p:nvPr/>
        </p:nvSpPr>
        <p:spPr>
          <a:xfrm>
            <a:off x="777240" y="48006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compare two models: 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offers interpretability — clear insight into which factors drive outcomes. Random Forest captures non-linear feature interactions and typically achieves higher accuracy. Comparing both surfaces the trade-off between explainability and predictive power for this domain.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4810760" y="1371600"/>
            <a:ext cx="4039870" cy="386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IN" alt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  YOU</a:t>
            </a:r>
            <a:endParaRPr lang="en-IN" altLang="en-US" sz="3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5206</Words>
  <Application>WPS Presentation</Application>
  <PresentationFormat>On-screen Show (16:9)</PresentationFormat>
  <Paragraphs>246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jakka</cp:lastModifiedBy>
  <cp:revision>2</cp:revision>
  <dcterms:created xsi:type="dcterms:W3CDTF">2026-08-28T00:12:00Z</dcterms:created>
  <dcterms:modified xsi:type="dcterms:W3CDTF">2026-08-28T03:16:45Z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9A0D378FB63241EDADFA66C73413D131_13</vt:lpwstr>
  </property>
</Properties>
</file>
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300" b="0" i="0" u="none" strike="noStrike" kern="1200" baseline="0">
                <a:solidFill>
                  <a:srgbClr val="1B4332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1B4332"/>
                </a:solidFill>
                <a:latin typeface="Arial" panose="020B0604020202020204"/>
              </a:rPr>
              <a:t>Logistic Regression vs. Random Forest</a:t>
            </a:r>
            <a:endParaRPr sz="1300" b="0" i="0" u="none" strike="noStrike">
              <a:solidFill>
                <a:srgbClr val="1B4332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Regression</c:v>
                </c:pt>
              </c:strCache>
            </c:strRef>
          </c:tx>
          <c:spPr>
            <a:solidFill>
              <a:srgbClr val="1B4332"/>
            </a:solidFill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1D2A24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 Score</c:v>
                </c:pt>
                <c:pt idx="4">
                  <c:v>ROC-AUC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0.5366</c:v>
                </c:pt>
                <c:pt idx="1">
                  <c:v>0.5465</c:v>
                </c:pt>
                <c:pt idx="2">
                  <c:v>0.5595</c:v>
                </c:pt>
                <c:pt idx="3">
                  <c:v>0.5529</c:v>
                </c:pt>
                <c:pt idx="4">
                  <c:v>0.5223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E8A93A"/>
            </a:solidFill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1D2A24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 Score</c:v>
                </c:pt>
                <c:pt idx="4">
                  <c:v>ROC-AUC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0.5305</c:v>
                </c:pt>
                <c:pt idx="1">
                  <c:v>0.5402</c:v>
                </c:pt>
                <c:pt idx="2">
                  <c:v>0.5595</c:v>
                </c:pt>
                <c:pt idx="3">
                  <c:v>0.5497</c:v>
                </c:pt>
                <c:pt idx="4">
                  <c:v>0.5457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C6B64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"/>
        </c:scaling>
        <c:delete val="0"/>
        <c:axPos val="l"/>
        <c:majorGridlines>
          <c:spPr>
            <a:ln w="12700" cap="flat" cmpd="sng" algn="ctr">
              <a:solidFill>
                <a:srgbClr val="E3ECE7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C6B64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54501942-f0e2-4d38-9115-2c2405c21d22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40916C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team1_avg_runs_scored</c:v>
                </c:pt>
                <c:pt idx="1">
                  <c:v>team1_avg_runs_conceded</c:v>
                </c:pt>
                <c:pt idx="2">
                  <c:v>team2_avg_runs_scored</c:v>
                </c:pt>
                <c:pt idx="3">
                  <c:v>team2_avg_runs_conceded</c:v>
                </c:pt>
                <c:pt idx="4">
                  <c:v>team1_form</c:v>
                </c:pt>
                <c:pt idx="5">
                  <c:v>h2h_team1_win_ratio</c:v>
                </c:pt>
                <c:pt idx="6">
                  <c:v>team1_avg_wickets_taken</c:v>
                </c:pt>
                <c:pt idx="7">
                  <c:v>team2_avg_wickets_taken</c:v>
                </c:pt>
                <c:pt idx="8">
                  <c:v>team1_venue_form</c:v>
                </c:pt>
                <c:pt idx="9">
                  <c:v>team2_form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0.1205</c:v>
                </c:pt>
                <c:pt idx="1">
                  <c:v>0.1065</c:v>
                </c:pt>
                <c:pt idx="2">
                  <c:v>0.1007</c:v>
                </c:pt>
                <c:pt idx="3">
                  <c:v>0.0988</c:v>
                </c:pt>
                <c:pt idx="4">
                  <c:v>0.0837</c:v>
                </c:pt>
                <c:pt idx="5">
                  <c:v>0.0824</c:v>
                </c:pt>
                <c:pt idx="6">
                  <c:v>0.0748</c:v>
                </c:pt>
                <c:pt idx="7">
                  <c:v>0.0747</c:v>
                </c:pt>
                <c:pt idx="8">
                  <c:v>0.073</c:v>
                </c:pt>
                <c:pt idx="9">
                  <c:v>0.066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50" b="0" i="0" u="none" strike="noStrike" kern="1200" baseline="0">
                <a:solidFill>
                  <a:srgbClr val="1D2A24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 cmpd="sng" algn="ctr">
              <a:solidFill>
                <a:srgbClr val="E3ECE7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C6B64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533c31a9-c36b-4fde-941c-04655263f687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88825" cy="2991485"/>
          </a:xfrm>
          <a:prstGeom prst="rect">
            <a:avLst/>
          </a:prstGeom>
          <a:solidFill>
            <a:srgbClr val="1B4332"/>
          </a:solidFill>
        </p:spPr>
      </p:sp>
      <p:sp>
        <p:nvSpPr>
          <p:cNvPr id="7" name="Text 5"/>
          <p:cNvSpPr txBox="1"/>
          <p:nvPr/>
        </p:nvSpPr>
        <p:spPr>
          <a:xfrm>
            <a:off x="316865" y="472440"/>
            <a:ext cx="11383010" cy="2003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Sports &amp; Entertainment: Match Outcome</a:t>
            </a:r>
            <a:endParaRPr lang="en-US" sz="3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Prediction Using Logistic Regression</a:t>
            </a:r>
            <a:endParaRPr lang="en-US" sz="3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and Random Forest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48640" y="3246755"/>
            <a:ext cx="11091545" cy="33705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DE7E1"/>
            </a:solidFill>
            <a:prstDash val="solid"/>
          </a:ln>
          <a:effectLst>
            <a:outerShdw blurRad="127000" dist="38100" dir="5400000" algn="bl" rotWithShape="0">
              <a:srgbClr val="1B4332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005840" y="32461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E8A9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BATCH 2  •  SECTION 8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7033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Team Members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05840" y="4297680"/>
            <a:ext cx="502920" cy="502920"/>
          </a:xfrm>
          <a:prstGeom prst="ellipse">
            <a:avLst/>
          </a:prstGeom>
          <a:solidFill>
            <a:srgbClr val="1B4332"/>
          </a:solidFill>
        </p:spPr>
      </p:sp>
      <p:sp>
        <p:nvSpPr>
          <p:cNvPr id="12" name="Text 10"/>
          <p:cNvSpPr txBox="1"/>
          <p:nvPr/>
        </p:nvSpPr>
        <p:spPr>
          <a:xfrm>
            <a:off x="1005840" y="4480560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4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4270248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2A2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Jakka Bhanu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46177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Roll No: 2520030006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05840" y="5074920"/>
            <a:ext cx="502920" cy="502920"/>
          </a:xfrm>
          <a:prstGeom prst="ellipse">
            <a:avLst/>
          </a:prstGeom>
          <a:solidFill>
            <a:srgbClr val="1B4332"/>
          </a:solidFill>
        </p:spPr>
      </p:sp>
      <p:sp>
        <p:nvSpPr>
          <p:cNvPr id="16" name="Text 14"/>
          <p:cNvSpPr txBox="1"/>
          <p:nvPr/>
        </p:nvSpPr>
        <p:spPr>
          <a:xfrm>
            <a:off x="1005840" y="50749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4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5047488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2A2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V. Charishma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53949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Roll No: 2520030140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9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PROBLEM DEFINITION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65836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D2A2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Given pre-match and historical performance data for two competing IPL teams, predict whether a specified team will win or lose the match.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843784"/>
            <a:ext cx="109728" cy="109728"/>
          </a:xfrm>
          <a:prstGeom prst="ellipse">
            <a:avLst/>
          </a:prstGeom>
          <a:solidFill>
            <a:srgbClr val="E8A93A"/>
          </a:solidFill>
        </p:spPr>
      </p:sp>
      <p:sp>
        <p:nvSpPr>
          <p:cNvPr id="6" name="Text 4"/>
          <p:cNvSpPr txBox="1"/>
          <p:nvPr/>
        </p:nvSpPr>
        <p:spPr>
          <a:xfrm>
            <a:off x="822960" y="2679192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 type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834640" y="2679192"/>
            <a:ext cx="4297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D2A2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Binary classification — Win (1) vs. Loss (0)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621024"/>
            <a:ext cx="109728" cy="109728"/>
          </a:xfrm>
          <a:prstGeom prst="ellipse">
            <a:avLst/>
          </a:prstGeom>
          <a:solidFill>
            <a:srgbClr val="E8A93A"/>
          </a:solidFill>
        </p:spPr>
      </p:sp>
      <p:sp>
        <p:nvSpPr>
          <p:cNvPr id="9" name="Text 7"/>
          <p:cNvSpPr txBox="1"/>
          <p:nvPr/>
        </p:nvSpPr>
        <p:spPr>
          <a:xfrm>
            <a:off x="822960" y="3456432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 variable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3456432"/>
            <a:ext cx="4297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D2A2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 result for a chosen team, from the winner column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398264"/>
            <a:ext cx="109728" cy="109728"/>
          </a:xfrm>
          <a:prstGeom prst="ellipse">
            <a:avLst/>
          </a:prstGeom>
          <a:solidFill>
            <a:srgbClr val="E8A93A"/>
          </a:solidFill>
        </p:spPr>
      </p:sp>
      <p:sp>
        <p:nvSpPr>
          <p:cNvPr id="12" name="Text 10"/>
          <p:cNvSpPr txBox="1"/>
          <p:nvPr/>
        </p:nvSpPr>
        <p:spPr>
          <a:xfrm>
            <a:off x="822960" y="4233672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4233672"/>
            <a:ext cx="4297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D2A2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Recent form, head-to-head record, venue/home advantage, toss outcome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175504"/>
            <a:ext cx="109728" cy="109728"/>
          </a:xfrm>
          <a:prstGeom prst="ellipse">
            <a:avLst/>
          </a:prstGeom>
          <a:solidFill>
            <a:srgbClr val="E8A93A"/>
          </a:solidFill>
        </p:spPr>
      </p:sp>
      <p:sp>
        <p:nvSpPr>
          <p:cNvPr id="15" name="Text 13"/>
          <p:cNvSpPr txBox="1"/>
          <p:nvPr/>
        </p:nvSpPr>
        <p:spPr>
          <a:xfrm>
            <a:off x="822960" y="5010912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834640" y="5010912"/>
            <a:ext cx="4297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D2A2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Traditional predictions rely on intuition; ML can uncover interacting patterns that simple statistics miss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589520" y="1508760"/>
            <a:ext cx="4050792" cy="4206240"/>
          </a:xfrm>
          <a:prstGeom prst="roundRect">
            <a:avLst>
              <a:gd name="adj" fmla="val 2257"/>
            </a:avLst>
          </a:prstGeom>
          <a:solidFill>
            <a:srgbClr val="F4F8F6"/>
          </a:solidFill>
        </p:spPr>
      </p:sp>
      <p:sp>
        <p:nvSpPr>
          <p:cNvPr id="18" name="Text 16"/>
          <p:cNvSpPr txBox="1"/>
          <p:nvPr/>
        </p:nvSpPr>
        <p:spPr>
          <a:xfrm>
            <a:off x="7863840" y="1828800"/>
            <a:ext cx="350215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7863840" y="2377440"/>
            <a:ext cx="350215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Models Compared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863840" y="3154680"/>
            <a:ext cx="350215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Win / Loss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3703320"/>
            <a:ext cx="350215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Classification Target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863840" y="4480560"/>
            <a:ext cx="350215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5029200"/>
            <a:ext cx="350215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 Metrics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9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Dataset Identification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6675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IPL Complete Dataset (2008–2024)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6675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B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Source: Kaggle (Prateek Bhardwaj) — covers every IPL season from inception through 2024.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F4F8F6"/>
          </a:solidFill>
        </p:spPr>
      </p:sp>
      <p:sp>
        <p:nvSpPr>
          <p:cNvPr id="7" name="Text 5"/>
          <p:cNvSpPr txBox="1"/>
          <p:nvPr/>
        </p:nvSpPr>
        <p:spPr>
          <a:xfrm>
            <a:off x="777240" y="278892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1,095 × 20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461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9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matches.csv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56616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2A2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Match-level records: teams, venue, toss, winner, margin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77640" y="265176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F4F8F6"/>
          </a:solidFill>
        </p:spPr>
      </p:sp>
      <p:sp>
        <p:nvSpPr>
          <p:cNvPr id="11" name="Text 9"/>
          <p:cNvSpPr txBox="1"/>
          <p:nvPr/>
        </p:nvSpPr>
        <p:spPr>
          <a:xfrm>
            <a:off x="4206240" y="278892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260,920 × 17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32461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9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deliveries.csv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356616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D2A2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Ball-by-ball data for every delivery bowled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589520" y="1508760"/>
            <a:ext cx="4050792" cy="4480560"/>
          </a:xfrm>
          <a:prstGeom prst="roundRect">
            <a:avLst>
              <a:gd name="adj" fmla="val 2257"/>
            </a:avLst>
          </a:prstGeom>
          <a:solidFill>
            <a:srgbClr val="1B4332"/>
          </a:solidFill>
        </p:spPr>
      </p:sp>
      <p:sp>
        <p:nvSpPr>
          <p:cNvPr id="15" name="Text 13"/>
          <p:cNvSpPr txBox="1"/>
          <p:nvPr/>
        </p:nvSpPr>
        <p:spPr>
          <a:xfrm>
            <a:off x="7863840" y="1737360"/>
            <a:ext cx="350215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this dataset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2286000"/>
            <a:ext cx="350215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17 full seasons — strong volume and variety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2971800"/>
            <a:ext cx="350215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Match-level + ball-by-ball data enables rich engineered features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3657600"/>
            <a:ext cx="350215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Clear, well-defined target variable (winner)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863840" y="4343400"/>
            <a:ext cx="350215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Public and well documented — fully reproducible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9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STATEMENT, REFRAMED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 Case-Based Scenario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F4F8F6"/>
          </a:solidFill>
        </p:spPr>
      </p:sp>
      <p:sp>
        <p:nvSpPr>
          <p:cNvPr id="5" name="Text 3"/>
          <p:cNvSpPr txBox="1"/>
          <p:nvPr/>
        </p:nvSpPr>
        <p:spPr>
          <a:xfrm>
            <a:off x="868680" y="1463040"/>
            <a:ext cx="1045159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“Who’s going to win tomorrow’s match — and can we back that up with data, not just gut feeling?”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2635758" cy="3429000"/>
          </a:xfrm>
          <a:prstGeom prst="roundRect">
            <a:avLst>
              <a:gd name="adj" fmla="val 3469"/>
            </a:avLst>
          </a:prstGeom>
          <a:solidFill>
            <a:srgbClr val="FFFFFF"/>
          </a:solidFill>
          <a:ln w="12700">
            <a:solidFill>
              <a:srgbClr val="E3EC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743200"/>
            <a:ext cx="457200" cy="457200"/>
          </a:xfrm>
          <a:prstGeom prst="ellipse">
            <a:avLst/>
          </a:prstGeom>
          <a:solidFill>
            <a:srgbClr val="E8A93A"/>
          </a:solidFill>
        </p:spPr>
      </p:sp>
      <p:sp>
        <p:nvSpPr>
          <p:cNvPr id="8" name="Text 6"/>
          <p:cNvSpPr txBox="1"/>
          <p:nvPr/>
        </p:nvSpPr>
        <p:spPr>
          <a:xfrm>
            <a:off x="777240" y="27432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337560"/>
            <a:ext cx="217855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Ask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703320"/>
            <a:ext cx="2178558" cy="2103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D2A2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broadcast analyst, Rohan, must predict tomorrow's IPL winner using 17 years of match history — not just instinct.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67278" y="2514600"/>
            <a:ext cx="2635758" cy="3429000"/>
          </a:xfrm>
          <a:prstGeom prst="roundRect">
            <a:avLst>
              <a:gd name="adj" fmla="val 3469"/>
            </a:avLst>
          </a:prstGeom>
          <a:solidFill>
            <a:srgbClr val="FFFFFF"/>
          </a:solidFill>
          <a:ln w="12700">
            <a:solidFill>
              <a:srgbClr val="E3EC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95878" y="2743200"/>
            <a:ext cx="457200" cy="457200"/>
          </a:xfrm>
          <a:prstGeom prst="ellipse">
            <a:avLst/>
          </a:prstGeom>
          <a:solidFill>
            <a:srgbClr val="E8A93A"/>
          </a:solidFill>
        </p:spPr>
      </p:sp>
      <p:sp>
        <p:nvSpPr>
          <p:cNvPr id="13" name="Text 11"/>
          <p:cNvSpPr txBox="1"/>
          <p:nvPr/>
        </p:nvSpPr>
        <p:spPr>
          <a:xfrm>
            <a:off x="3595878" y="27432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595878" y="3337560"/>
            <a:ext cx="217855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Approach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595878" y="3703320"/>
            <a:ext cx="2178558" cy="2103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D2A2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 frames it as binary classification and engineers features for form, head-to-head, venue, and toss impact.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85916" y="2514600"/>
            <a:ext cx="2635758" cy="3429000"/>
          </a:xfrm>
          <a:prstGeom prst="roundRect">
            <a:avLst>
              <a:gd name="adj" fmla="val 3469"/>
            </a:avLst>
          </a:prstGeom>
          <a:solidFill>
            <a:srgbClr val="FFFFFF"/>
          </a:solidFill>
          <a:ln w="12700">
            <a:solidFill>
              <a:srgbClr val="E3EC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14516" y="2743200"/>
            <a:ext cx="457200" cy="457200"/>
          </a:xfrm>
          <a:prstGeom prst="ellipse">
            <a:avLst/>
          </a:prstGeom>
          <a:solidFill>
            <a:srgbClr val="E8A93A"/>
          </a:solidFill>
        </p:spPr>
      </p:sp>
      <p:sp>
        <p:nvSpPr>
          <p:cNvPr id="18" name="Text 16"/>
          <p:cNvSpPr txBox="1"/>
          <p:nvPr/>
        </p:nvSpPr>
        <p:spPr>
          <a:xfrm>
            <a:off x="6414516" y="27432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14516" y="3337560"/>
            <a:ext cx="217855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Two Models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14516" y="3703320"/>
            <a:ext cx="2178558" cy="2103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D2A2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Logistic Regression for a transparent, explainable call; Random Forest for catching complex, non-obvious patterns.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04554" y="2514600"/>
            <a:ext cx="2635758" cy="3429000"/>
          </a:xfrm>
          <a:prstGeom prst="roundRect">
            <a:avLst>
              <a:gd name="adj" fmla="val 3469"/>
            </a:avLst>
          </a:prstGeom>
          <a:solidFill>
            <a:srgbClr val="FFFFFF"/>
          </a:solidFill>
          <a:ln w="12700">
            <a:solidFill>
              <a:srgbClr val="E3EC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33154" y="2743200"/>
            <a:ext cx="457200" cy="457200"/>
          </a:xfrm>
          <a:prstGeom prst="ellipse">
            <a:avLst/>
          </a:prstGeom>
          <a:solidFill>
            <a:srgbClr val="E8A93A"/>
          </a:solidFill>
        </p:spPr>
      </p:sp>
      <p:sp>
        <p:nvSpPr>
          <p:cNvPr id="23" name="Text 21"/>
          <p:cNvSpPr txBox="1"/>
          <p:nvPr/>
        </p:nvSpPr>
        <p:spPr>
          <a:xfrm>
            <a:off x="9233154" y="27432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233154" y="3337560"/>
            <a:ext cx="217855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Finding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233154" y="3703320"/>
            <a:ext cx="2178558" cy="2103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D2A2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Both models beat a coin flip only modestly — an honest result showing recent scoring form outweighs toss or venue.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9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DATA CLEANING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Cleaning &amp; Preparation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1B4332"/>
          </a:solidFill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5448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Missing values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947672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D2A2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toss method (1074), result_margin (19), city (51), player_of_match (5), winner (5) — reviewed and handled individually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457200" cy="457200"/>
          </a:xfrm>
          <a:prstGeom prst="ellipse">
            <a:avLst/>
          </a:prstGeom>
          <a:solidFill>
            <a:srgbClr val="1B4332"/>
          </a:solidFill>
        </p:spPr>
      </p:sp>
      <p:sp>
        <p:nvSpPr>
          <p:cNvPr id="9" name="Text 7"/>
          <p:cNvSpPr txBox="1"/>
          <p:nvPr/>
        </p:nvSpPr>
        <p:spPr>
          <a:xfrm>
            <a:off x="548640" y="26974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65176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Franchise renaming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044952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D2A2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Delhi Daredevils → Delhi Capitals, Deccan Chargers → Sunrisers Hyderabad, Kings XI Punjab → Punjab Kings — standardized so each team's full history stays continuous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1B4332"/>
          </a:solidFill>
        </p:spPr>
      </p:sp>
      <p:sp>
        <p:nvSpPr>
          <p:cNvPr id="13" name="Text 11"/>
          <p:cNvSpPr txBox="1"/>
          <p:nvPr/>
        </p:nvSpPr>
        <p:spPr>
          <a:xfrm>
            <a:off x="548640" y="37947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74904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Duplicate check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142232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D2A2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duplicate rows found in either matches.csv or deliveries.csv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457200" cy="457200"/>
          </a:xfrm>
          <a:prstGeom prst="ellipse">
            <a:avLst/>
          </a:prstGeom>
          <a:solidFill>
            <a:srgbClr val="1B4332"/>
          </a:solidFill>
        </p:spPr>
      </p:sp>
      <p:sp>
        <p:nvSpPr>
          <p:cNvPr id="17" name="Text 15"/>
          <p:cNvSpPr txBox="1"/>
          <p:nvPr/>
        </p:nvSpPr>
        <p:spPr>
          <a:xfrm>
            <a:off x="548640" y="4892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84632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Ties / no-results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239512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D2A2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Rare outcomes handled separately since they don't fit a clean win/loss label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92240" y="1600200"/>
            <a:ext cx="5148072" cy="4206240"/>
          </a:xfrm>
          <a:prstGeom prst="roundRect">
            <a:avLst>
              <a:gd name="adj" fmla="val 2174"/>
            </a:avLst>
          </a:prstGeom>
          <a:solidFill>
            <a:srgbClr val="F4F8F6"/>
          </a:solidFill>
        </p:spPr>
      </p:sp>
      <p:sp>
        <p:nvSpPr>
          <p:cNvPr id="21" name="Text 19"/>
          <p:cNvSpPr txBox="1"/>
          <p:nvPr/>
        </p:nvSpPr>
        <p:spPr>
          <a:xfrm>
            <a:off x="6766560" y="1828800"/>
            <a:ext cx="459943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this matters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2286000"/>
            <a:ext cx="4599432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D2A2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Several IPL franchises were renamed or relocated over the years. Without standardizing names, the model would treat a team's old and new identity as two unrelated teams — silently losing years of historical form and head-to-head data.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9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EXPLORATORY DATA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EDA — Key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75304" cy="2148840"/>
          </a:xfrm>
          <a:prstGeom prst="roundRect">
            <a:avLst>
              <a:gd name="adj" fmla="val 4255"/>
            </a:avLst>
          </a:prstGeom>
          <a:solidFill>
            <a:srgbClr val="F4F8F6"/>
          </a:solidFill>
          <a:ln w="12700">
            <a:solidFill>
              <a:srgbClr val="E3EC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55648"/>
            <a:ext cx="302666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Team Dominance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12848"/>
            <a:ext cx="3026664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D2A2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Mumbai Indians lead with 144 wins, followed by Chennai Super Kings (138) and Kolkata Knight Riders (131).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06824" y="1554480"/>
            <a:ext cx="3575304" cy="2148840"/>
          </a:xfrm>
          <a:prstGeom prst="roundRect">
            <a:avLst>
              <a:gd name="adj" fmla="val 4255"/>
            </a:avLst>
          </a:prstGeom>
          <a:solidFill>
            <a:srgbClr val="F4F8F6"/>
          </a:solidFill>
          <a:ln w="12700">
            <a:solidFill>
              <a:srgbClr val="E3EC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81144" y="1755648"/>
            <a:ext cx="302666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Toss Impact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581144" y="2212848"/>
            <a:ext cx="3026664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D2A2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42.4% of toss winners go on to win the match — toss is a weak predictor, not a dominant one.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65008" y="1554480"/>
            <a:ext cx="3575304" cy="2148840"/>
          </a:xfrm>
          <a:prstGeom prst="roundRect">
            <a:avLst>
              <a:gd name="adj" fmla="val 4255"/>
            </a:avLst>
          </a:prstGeom>
          <a:solidFill>
            <a:srgbClr val="F4F8F6"/>
          </a:solidFill>
          <a:ln w="12700">
            <a:solidFill>
              <a:srgbClr val="E3EC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39328" y="1755648"/>
            <a:ext cx="302666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Season Trends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339328" y="2212848"/>
            <a:ext cx="3026664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D2A2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 counts dipped in the COVID-affected 2020/21 season and rose after the league expanded to 10 teams.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357530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ECE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087368"/>
            <a:ext cx="302666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Venues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544568"/>
            <a:ext cx="3026664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D2A2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Eden Gardens, Wankhede, and M. Chinnaswamy host the most matches; top cities align with top venues.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06824" y="3886200"/>
            <a:ext cx="357530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ECE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81144" y="4087368"/>
            <a:ext cx="302666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Win Margins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581144" y="4544568"/>
            <a:ext cx="3026664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D2A2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Heavily right-skewed — most matches are close (0–20 runs/wickets), with few one-sided blowouts.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65008" y="3886200"/>
            <a:ext cx="357530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ECE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39328" y="4087368"/>
            <a:ext cx="302666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Raw Correlations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339328" y="4544568"/>
            <a:ext cx="3026664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D2A2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single raw numeric column strongly predicts outcome — motivating deeper feature engineering.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9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FEATURE ENGINEERING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Turning History Into Signals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167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B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feature below is computed strictly from data available before the match date — preventing the model from “seeing the future” during training.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75304" cy="1737360"/>
          </a:xfrm>
          <a:prstGeom prst="roundRect">
            <a:avLst>
              <a:gd name="adj" fmla="val 5263"/>
            </a:avLst>
          </a:prstGeom>
          <a:solidFill>
            <a:srgbClr val="F4F8F6"/>
          </a:solidFill>
        </p:spPr>
      </p:sp>
      <p:sp>
        <p:nvSpPr>
          <p:cNvPr id="6" name="Shape 4"/>
          <p:cNvSpPr/>
          <p:nvPr/>
        </p:nvSpPr>
        <p:spPr>
          <a:xfrm>
            <a:off x="777240" y="2377440"/>
            <a:ext cx="411480" cy="411480"/>
          </a:xfrm>
          <a:prstGeom prst="ellipse">
            <a:avLst/>
          </a:prstGeom>
          <a:solidFill>
            <a:srgbClr val="1B4332"/>
          </a:solidFill>
        </p:spPr>
      </p:sp>
      <p:sp>
        <p:nvSpPr>
          <p:cNvPr id="7" name="Text 5"/>
          <p:cNvSpPr txBox="1"/>
          <p:nvPr/>
        </p:nvSpPr>
        <p:spPr>
          <a:xfrm>
            <a:off x="777240" y="237744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6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350008"/>
            <a:ext cx="25694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Recent Form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926080"/>
            <a:ext cx="3118104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D2A2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Weighted win rate over each team's last 5 matches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06824" y="2148840"/>
            <a:ext cx="3575304" cy="1737360"/>
          </a:xfrm>
          <a:prstGeom prst="roundRect">
            <a:avLst>
              <a:gd name="adj" fmla="val 5263"/>
            </a:avLst>
          </a:prstGeom>
          <a:solidFill>
            <a:srgbClr val="F4F8F6"/>
          </a:solidFill>
        </p:spPr>
      </p:sp>
      <p:sp>
        <p:nvSpPr>
          <p:cNvPr id="11" name="Shape 9"/>
          <p:cNvSpPr/>
          <p:nvPr/>
        </p:nvSpPr>
        <p:spPr>
          <a:xfrm>
            <a:off x="4535424" y="2377440"/>
            <a:ext cx="411480" cy="411480"/>
          </a:xfrm>
          <a:prstGeom prst="ellipse">
            <a:avLst/>
          </a:prstGeom>
          <a:solidFill>
            <a:srgbClr val="1B4332"/>
          </a:solidFill>
        </p:spPr>
      </p:sp>
      <p:sp>
        <p:nvSpPr>
          <p:cNvPr id="12" name="Text 10"/>
          <p:cNvSpPr txBox="1"/>
          <p:nvPr/>
        </p:nvSpPr>
        <p:spPr>
          <a:xfrm>
            <a:off x="4535424" y="237744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60" dirty="0"/>
          </a:p>
        </p:txBody>
      </p:sp>
      <p:sp>
        <p:nvSpPr>
          <p:cNvPr id="13" name="Text 11"/>
          <p:cNvSpPr txBox="1"/>
          <p:nvPr/>
        </p:nvSpPr>
        <p:spPr>
          <a:xfrm>
            <a:off x="5084064" y="2350008"/>
            <a:ext cx="25694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Head-to-Head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35424" y="2926080"/>
            <a:ext cx="3118104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D2A2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Historical win ratio between the two specific teams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65008" y="2148840"/>
            <a:ext cx="3575304" cy="1737360"/>
          </a:xfrm>
          <a:prstGeom prst="roundRect">
            <a:avLst>
              <a:gd name="adj" fmla="val 5263"/>
            </a:avLst>
          </a:prstGeom>
          <a:solidFill>
            <a:srgbClr val="F4F8F6"/>
          </a:solidFill>
        </p:spPr>
      </p:sp>
      <p:sp>
        <p:nvSpPr>
          <p:cNvPr id="16" name="Shape 14"/>
          <p:cNvSpPr/>
          <p:nvPr/>
        </p:nvSpPr>
        <p:spPr>
          <a:xfrm>
            <a:off x="8293608" y="2377440"/>
            <a:ext cx="411480" cy="411480"/>
          </a:xfrm>
          <a:prstGeom prst="ellipse">
            <a:avLst/>
          </a:prstGeom>
          <a:solidFill>
            <a:srgbClr val="1B4332"/>
          </a:solidFill>
        </p:spPr>
      </p:sp>
      <p:sp>
        <p:nvSpPr>
          <p:cNvPr id="17" name="Text 15"/>
          <p:cNvSpPr txBox="1"/>
          <p:nvPr/>
        </p:nvSpPr>
        <p:spPr>
          <a:xfrm>
            <a:off x="8293608" y="237744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60" dirty="0"/>
          </a:p>
        </p:txBody>
      </p:sp>
      <p:sp>
        <p:nvSpPr>
          <p:cNvPr id="18" name="Text 16"/>
          <p:cNvSpPr txBox="1"/>
          <p:nvPr/>
        </p:nvSpPr>
        <p:spPr>
          <a:xfrm>
            <a:off x="8842248" y="2350008"/>
            <a:ext cx="25694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Home / Away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293608" y="2926080"/>
            <a:ext cx="3118104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D2A2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Whether each team is playing in its home city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069080"/>
            <a:ext cx="3575304" cy="1737360"/>
          </a:xfrm>
          <a:prstGeom prst="roundRect">
            <a:avLst>
              <a:gd name="adj" fmla="val 5263"/>
            </a:avLst>
          </a:prstGeom>
          <a:solidFill>
            <a:srgbClr val="F4F8F6"/>
          </a:solidFill>
        </p:spPr>
      </p:sp>
      <p:sp>
        <p:nvSpPr>
          <p:cNvPr id="21" name="Shape 19"/>
          <p:cNvSpPr/>
          <p:nvPr/>
        </p:nvSpPr>
        <p:spPr>
          <a:xfrm>
            <a:off x="777240" y="4297680"/>
            <a:ext cx="411480" cy="411480"/>
          </a:xfrm>
          <a:prstGeom prst="ellipse">
            <a:avLst/>
          </a:prstGeom>
          <a:solidFill>
            <a:srgbClr val="1B4332"/>
          </a:solidFill>
        </p:spPr>
      </p:sp>
      <p:sp>
        <p:nvSpPr>
          <p:cNvPr id="22" name="Text 20"/>
          <p:cNvSpPr txBox="1"/>
          <p:nvPr/>
        </p:nvSpPr>
        <p:spPr>
          <a:xfrm>
            <a:off x="777240" y="429768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26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4270248"/>
            <a:ext cx="25694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Toss Impact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4846320"/>
            <a:ext cx="3118104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D2A2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Toss winner and bat/field decision, encoded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06824" y="4069080"/>
            <a:ext cx="3575304" cy="1737360"/>
          </a:xfrm>
          <a:prstGeom prst="roundRect">
            <a:avLst>
              <a:gd name="adj" fmla="val 5263"/>
            </a:avLst>
          </a:prstGeom>
          <a:solidFill>
            <a:srgbClr val="F4F8F6"/>
          </a:solidFill>
        </p:spPr>
      </p:sp>
      <p:sp>
        <p:nvSpPr>
          <p:cNvPr id="26" name="Shape 24"/>
          <p:cNvSpPr/>
          <p:nvPr/>
        </p:nvSpPr>
        <p:spPr>
          <a:xfrm>
            <a:off x="4535424" y="4297680"/>
            <a:ext cx="411480" cy="411480"/>
          </a:xfrm>
          <a:prstGeom prst="ellipse">
            <a:avLst/>
          </a:prstGeom>
          <a:solidFill>
            <a:srgbClr val="1B4332"/>
          </a:solidFill>
        </p:spPr>
      </p:sp>
      <p:sp>
        <p:nvSpPr>
          <p:cNvPr id="27" name="Text 25"/>
          <p:cNvSpPr txBox="1"/>
          <p:nvPr/>
        </p:nvSpPr>
        <p:spPr>
          <a:xfrm>
            <a:off x="4535424" y="429768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260" dirty="0"/>
          </a:p>
        </p:txBody>
      </p:sp>
      <p:sp>
        <p:nvSpPr>
          <p:cNvPr id="28" name="Text 26"/>
          <p:cNvSpPr txBox="1"/>
          <p:nvPr/>
        </p:nvSpPr>
        <p:spPr>
          <a:xfrm>
            <a:off x="5084064" y="4270248"/>
            <a:ext cx="25694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Venue Form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535424" y="4846320"/>
            <a:ext cx="3118104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D2A2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Team's historical win rate at this specific stadium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65008" y="4069080"/>
            <a:ext cx="3575304" cy="1737360"/>
          </a:xfrm>
          <a:prstGeom prst="roundRect">
            <a:avLst>
              <a:gd name="adj" fmla="val 5263"/>
            </a:avLst>
          </a:prstGeom>
          <a:solidFill>
            <a:srgbClr val="F4F8F6"/>
          </a:solidFill>
        </p:spPr>
      </p:sp>
      <p:sp>
        <p:nvSpPr>
          <p:cNvPr id="31" name="Shape 29"/>
          <p:cNvSpPr/>
          <p:nvPr/>
        </p:nvSpPr>
        <p:spPr>
          <a:xfrm>
            <a:off x="8293608" y="4297680"/>
            <a:ext cx="411480" cy="411480"/>
          </a:xfrm>
          <a:prstGeom prst="ellipse">
            <a:avLst/>
          </a:prstGeom>
          <a:solidFill>
            <a:srgbClr val="1B4332"/>
          </a:solidFill>
        </p:spPr>
      </p:sp>
      <p:sp>
        <p:nvSpPr>
          <p:cNvPr id="32" name="Text 30"/>
          <p:cNvSpPr txBox="1"/>
          <p:nvPr/>
        </p:nvSpPr>
        <p:spPr>
          <a:xfrm>
            <a:off x="8293608" y="429768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260" dirty="0"/>
          </a:p>
        </p:txBody>
      </p:sp>
      <p:sp>
        <p:nvSpPr>
          <p:cNvPr id="33" name="Text 31"/>
          <p:cNvSpPr txBox="1"/>
          <p:nvPr/>
        </p:nvSpPr>
        <p:spPr>
          <a:xfrm>
            <a:off x="8842248" y="4270248"/>
            <a:ext cx="25694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Team Strength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293608" y="4846320"/>
            <a:ext cx="3118104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D2A2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Recent average runs scored, conceded, wickets taken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9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DATA PREPARATION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Train / Validation / Test Split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14344" cy="2743200"/>
          </a:xfrm>
          <a:prstGeom prst="roundRect">
            <a:avLst>
              <a:gd name="adj" fmla="val 3333"/>
            </a:avLst>
          </a:prstGeom>
          <a:solidFill>
            <a:srgbClr val="F4F8F6"/>
          </a:solidFill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3057144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70%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14600"/>
            <a:ext cx="305714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2A2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Train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80360"/>
            <a:ext cx="305714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762 matches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46120"/>
            <a:ext cx="3057144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D2A2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 learns patterns from this data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37304" y="1600200"/>
            <a:ext cx="3514344" cy="2743200"/>
          </a:xfrm>
          <a:prstGeom prst="roundRect">
            <a:avLst>
              <a:gd name="adj" fmla="val 3333"/>
            </a:avLst>
          </a:prstGeom>
          <a:solidFill>
            <a:srgbClr val="F4F8F6"/>
          </a:solidFill>
        </p:spPr>
      </p:sp>
      <p:sp>
        <p:nvSpPr>
          <p:cNvPr id="10" name="Text 8"/>
          <p:cNvSpPr txBox="1"/>
          <p:nvPr/>
        </p:nvSpPr>
        <p:spPr>
          <a:xfrm>
            <a:off x="4565904" y="1874520"/>
            <a:ext cx="3057144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0916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15%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4565904" y="2514600"/>
            <a:ext cx="305714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2A2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Validation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65904" y="2880360"/>
            <a:ext cx="305714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164 matches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565904" y="3246120"/>
            <a:ext cx="3057144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D2A2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to compare &amp; tune models fairly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25968" y="1600200"/>
            <a:ext cx="3514344" cy="2743200"/>
          </a:xfrm>
          <a:prstGeom prst="roundRect">
            <a:avLst>
              <a:gd name="adj" fmla="val 3333"/>
            </a:avLst>
          </a:prstGeom>
          <a:solidFill>
            <a:srgbClr val="F4F8F6"/>
          </a:solidFill>
        </p:spPr>
      </p:sp>
      <p:sp>
        <p:nvSpPr>
          <p:cNvPr id="15" name="Text 13"/>
          <p:cNvSpPr txBox="1"/>
          <p:nvPr/>
        </p:nvSpPr>
        <p:spPr>
          <a:xfrm>
            <a:off x="8354568" y="1874520"/>
            <a:ext cx="3057144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A9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15%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8354568" y="2514600"/>
            <a:ext cx="305714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2A2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Test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54568" y="2880360"/>
            <a:ext cx="305714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164 matches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354568" y="3246120"/>
            <a:ext cx="3057144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D2A2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Touched once, for final unbiased reporting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617720"/>
            <a:ext cx="1109167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Stratified splitting kept the win/loss ratio consistent across all three sets — preventing an accidentally imbalanced validation or test set.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9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MODEL SELECTION &amp; TRAINING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Two Models, Two Philosophies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62956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5240">
            <a:solidFill>
              <a:srgbClr val="E3EC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5362956" cy="960120"/>
          </a:xfrm>
          <a:prstGeom prst="roundRect">
            <a:avLst>
              <a:gd name="adj" fmla="val 11429"/>
            </a:avLst>
          </a:prstGeom>
          <a:solidFill>
            <a:srgbClr val="1B4332"/>
          </a:solidFill>
        </p:spPr>
      </p:sp>
      <p:sp>
        <p:nvSpPr>
          <p:cNvPr id="6" name="Shape 4"/>
          <p:cNvSpPr/>
          <p:nvPr/>
        </p:nvSpPr>
        <p:spPr>
          <a:xfrm>
            <a:off x="548640" y="2148840"/>
            <a:ext cx="5362956" cy="365760"/>
          </a:xfrm>
          <a:prstGeom prst="rect">
            <a:avLst/>
          </a:prstGeom>
          <a:solidFill>
            <a:srgbClr val="1B4332"/>
          </a:solidFill>
        </p:spPr>
      </p:sp>
      <p:sp>
        <p:nvSpPr>
          <p:cNvPr id="7" name="Text 5"/>
          <p:cNvSpPr txBox="1"/>
          <p:nvPr/>
        </p:nvSpPr>
        <p:spPr>
          <a:xfrm>
            <a:off x="868680" y="1691640"/>
            <a:ext cx="4722876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Logistic Regression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148840"/>
            <a:ext cx="47228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INTERPRETABLE BASELINE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2816352"/>
            <a:ext cx="91440" cy="91440"/>
          </a:xfrm>
          <a:prstGeom prst="ellipse">
            <a:avLst/>
          </a:prstGeom>
          <a:solidFill>
            <a:srgbClr val="1B4332"/>
          </a:solidFill>
        </p:spPr>
      </p:sp>
      <p:sp>
        <p:nvSpPr>
          <p:cNvPr id="10" name="Text 8"/>
          <p:cNvSpPr txBox="1"/>
          <p:nvPr/>
        </p:nvSpPr>
        <p:spPr>
          <a:xfrm>
            <a:off x="1143000" y="2651760"/>
            <a:ext cx="444855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D2A2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Models a linear relationship between features and win probability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3502152"/>
            <a:ext cx="91440" cy="91440"/>
          </a:xfrm>
          <a:prstGeom prst="ellipse">
            <a:avLst/>
          </a:prstGeom>
          <a:solidFill>
            <a:srgbClr val="1B4332"/>
          </a:solidFill>
        </p:spPr>
      </p:sp>
      <p:sp>
        <p:nvSpPr>
          <p:cNvPr id="12" name="Text 10"/>
          <p:cNvSpPr txBox="1"/>
          <p:nvPr/>
        </p:nvSpPr>
        <p:spPr>
          <a:xfrm>
            <a:off x="1143000" y="3337560"/>
            <a:ext cx="444855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D2A2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weight can be inspected — shows exactly which factor pushed the prediction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4187952"/>
            <a:ext cx="91440" cy="91440"/>
          </a:xfrm>
          <a:prstGeom prst="ellipse">
            <a:avLst/>
          </a:prstGeom>
          <a:solidFill>
            <a:srgbClr val="1B4332"/>
          </a:solidFill>
        </p:spPr>
      </p:sp>
      <p:sp>
        <p:nvSpPr>
          <p:cNvPr id="14" name="Text 12"/>
          <p:cNvSpPr txBox="1"/>
          <p:nvPr/>
        </p:nvSpPr>
        <p:spPr>
          <a:xfrm>
            <a:off x="1143000" y="4023360"/>
            <a:ext cx="444855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D2A2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 to train, easy to explain and justify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77356" y="1554480"/>
            <a:ext cx="5362956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5240">
            <a:solidFill>
              <a:srgbClr val="E3EC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7356" y="1554480"/>
            <a:ext cx="5362956" cy="960120"/>
          </a:xfrm>
          <a:prstGeom prst="roundRect">
            <a:avLst>
              <a:gd name="adj" fmla="val 11429"/>
            </a:avLst>
          </a:prstGeom>
          <a:solidFill>
            <a:srgbClr val="E8A93A"/>
          </a:solidFill>
        </p:spPr>
      </p:sp>
      <p:sp>
        <p:nvSpPr>
          <p:cNvPr id="17" name="Shape 15"/>
          <p:cNvSpPr/>
          <p:nvPr/>
        </p:nvSpPr>
        <p:spPr>
          <a:xfrm>
            <a:off x="6277356" y="2148840"/>
            <a:ext cx="5362956" cy="365760"/>
          </a:xfrm>
          <a:prstGeom prst="rect">
            <a:avLst/>
          </a:prstGeom>
          <a:solidFill>
            <a:srgbClr val="E8A93A"/>
          </a:solidFill>
        </p:spPr>
      </p:sp>
      <p:sp>
        <p:nvSpPr>
          <p:cNvPr id="18" name="Text 16"/>
          <p:cNvSpPr txBox="1"/>
          <p:nvPr/>
        </p:nvSpPr>
        <p:spPr>
          <a:xfrm>
            <a:off x="6597396" y="1691640"/>
            <a:ext cx="4722876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Random Forest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6597396" y="2148840"/>
            <a:ext cx="47228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ENSEMBLE MODEL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97396" y="2816352"/>
            <a:ext cx="91440" cy="91440"/>
          </a:xfrm>
          <a:prstGeom prst="ellipse">
            <a:avLst/>
          </a:prstGeom>
          <a:solidFill>
            <a:srgbClr val="E8A93A"/>
          </a:solidFill>
        </p:spPr>
      </p:sp>
      <p:sp>
        <p:nvSpPr>
          <p:cNvPr id="21" name="Text 19"/>
          <p:cNvSpPr txBox="1"/>
          <p:nvPr/>
        </p:nvSpPr>
        <p:spPr>
          <a:xfrm>
            <a:off x="6871716" y="2651760"/>
            <a:ext cx="444855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D2A2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 decision trees vote together on the outcome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97396" y="3502152"/>
            <a:ext cx="91440" cy="91440"/>
          </a:xfrm>
          <a:prstGeom prst="ellipse">
            <a:avLst/>
          </a:prstGeom>
          <a:solidFill>
            <a:srgbClr val="E8A93A"/>
          </a:solidFill>
        </p:spPr>
      </p:sp>
      <p:sp>
        <p:nvSpPr>
          <p:cNvPr id="23" name="Text 21"/>
          <p:cNvSpPr txBox="1"/>
          <p:nvPr/>
        </p:nvSpPr>
        <p:spPr>
          <a:xfrm>
            <a:off x="6871716" y="3337560"/>
            <a:ext cx="444855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D2A2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Captures complex, non-linear combinations of features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97396" y="4187952"/>
            <a:ext cx="91440" cy="91440"/>
          </a:xfrm>
          <a:prstGeom prst="ellipse">
            <a:avLst/>
          </a:prstGeom>
          <a:solidFill>
            <a:srgbClr val="E8A93A"/>
          </a:solidFill>
        </p:spPr>
      </p:sp>
      <p:sp>
        <p:nvSpPr>
          <p:cNvPr id="25" name="Text 23"/>
          <p:cNvSpPr txBox="1"/>
          <p:nvPr/>
        </p:nvSpPr>
        <p:spPr>
          <a:xfrm>
            <a:off x="6871716" y="4023360"/>
            <a:ext cx="444855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D2A2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max_depth = 8, tuned to reduce overfitting on a modest dataset size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9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ITERATION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Diagnosing &amp; Improving the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67178" cy="3108960"/>
          </a:xfrm>
          <a:prstGeom prst="roundRect">
            <a:avLst>
              <a:gd name="adj" fmla="val 3562"/>
            </a:avLst>
          </a:prstGeom>
          <a:solidFill>
            <a:srgbClr val="F4F8F6"/>
          </a:solidFill>
        </p:spPr>
      </p:sp>
      <p:sp>
        <p:nvSpPr>
          <p:cNvPr id="5" name="Shape 3"/>
          <p:cNvSpPr/>
          <p:nvPr/>
        </p:nvSpPr>
        <p:spPr>
          <a:xfrm>
            <a:off x="1580769" y="2103120"/>
            <a:ext cx="502920" cy="502920"/>
          </a:xfrm>
          <a:prstGeom prst="ellipse">
            <a:avLst/>
          </a:prstGeom>
          <a:solidFill>
            <a:srgbClr val="1B4332"/>
          </a:solidFill>
        </p:spPr>
      </p:sp>
      <p:sp>
        <p:nvSpPr>
          <p:cNvPr id="6" name="Text 4"/>
          <p:cNvSpPr txBox="1"/>
          <p:nvPr/>
        </p:nvSpPr>
        <p:spPr>
          <a:xfrm>
            <a:off x="1580769" y="21031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54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43200"/>
            <a:ext cx="229285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Train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108960"/>
            <a:ext cx="2201418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1D2A2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Trained both models on all 19 engineered features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115818" y="1965960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9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390138" y="1828800"/>
            <a:ext cx="2567178" cy="3108960"/>
          </a:xfrm>
          <a:prstGeom prst="roundRect">
            <a:avLst>
              <a:gd name="adj" fmla="val 3562"/>
            </a:avLst>
          </a:prstGeom>
          <a:solidFill>
            <a:srgbClr val="F4F8F6"/>
          </a:solidFill>
        </p:spPr>
      </p:sp>
      <p:sp>
        <p:nvSpPr>
          <p:cNvPr id="11" name="Shape 9"/>
          <p:cNvSpPr/>
          <p:nvPr/>
        </p:nvSpPr>
        <p:spPr>
          <a:xfrm>
            <a:off x="4422267" y="2103120"/>
            <a:ext cx="502920" cy="502920"/>
          </a:xfrm>
          <a:prstGeom prst="ellipse">
            <a:avLst/>
          </a:prstGeom>
          <a:solidFill>
            <a:srgbClr val="40916C"/>
          </a:solidFill>
        </p:spPr>
      </p:sp>
      <p:sp>
        <p:nvSpPr>
          <p:cNvPr id="12" name="Text 10"/>
          <p:cNvSpPr txBox="1"/>
          <p:nvPr/>
        </p:nvSpPr>
        <p:spPr>
          <a:xfrm>
            <a:off x="4422267" y="21031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540" dirty="0"/>
          </a:p>
        </p:txBody>
      </p:sp>
      <p:sp>
        <p:nvSpPr>
          <p:cNvPr id="13" name="Text 11"/>
          <p:cNvSpPr txBox="1"/>
          <p:nvPr/>
        </p:nvSpPr>
        <p:spPr>
          <a:xfrm>
            <a:off x="3527298" y="2743200"/>
            <a:ext cx="229285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Evaluate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573018" y="3108960"/>
            <a:ext cx="2201418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1D2A2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Initial accuracy was weak (~51%) — close to random guessing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957316" y="1965960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9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31636" y="1828800"/>
            <a:ext cx="2567178" cy="3108960"/>
          </a:xfrm>
          <a:prstGeom prst="roundRect">
            <a:avLst>
              <a:gd name="adj" fmla="val 3562"/>
            </a:avLst>
          </a:prstGeom>
          <a:solidFill>
            <a:srgbClr val="F4F8F6"/>
          </a:solidFill>
        </p:spPr>
      </p:sp>
      <p:sp>
        <p:nvSpPr>
          <p:cNvPr id="17" name="Shape 15"/>
          <p:cNvSpPr/>
          <p:nvPr/>
        </p:nvSpPr>
        <p:spPr>
          <a:xfrm>
            <a:off x="7263765" y="2103120"/>
            <a:ext cx="502920" cy="502920"/>
          </a:xfrm>
          <a:prstGeom prst="ellipse">
            <a:avLst/>
          </a:prstGeom>
          <a:solidFill>
            <a:srgbClr val="E8A93A"/>
          </a:solidFill>
        </p:spPr>
      </p:sp>
      <p:sp>
        <p:nvSpPr>
          <p:cNvPr id="18" name="Text 16"/>
          <p:cNvSpPr txBox="1"/>
          <p:nvPr/>
        </p:nvSpPr>
        <p:spPr>
          <a:xfrm>
            <a:off x="7263765" y="21031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540" dirty="0"/>
          </a:p>
        </p:txBody>
      </p:sp>
      <p:sp>
        <p:nvSpPr>
          <p:cNvPr id="19" name="Text 17"/>
          <p:cNvSpPr txBox="1"/>
          <p:nvPr/>
        </p:nvSpPr>
        <p:spPr>
          <a:xfrm>
            <a:off x="6368796" y="2743200"/>
            <a:ext cx="229285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Diagnose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14516" y="3108960"/>
            <a:ext cx="2201418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1D2A2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Checked feature correlation with the target; found rest_days and win_streak carried near-zero signal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798814" y="1965960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9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073134" y="1828800"/>
            <a:ext cx="2567178" cy="3108960"/>
          </a:xfrm>
          <a:prstGeom prst="roundRect">
            <a:avLst>
              <a:gd name="adj" fmla="val 3562"/>
            </a:avLst>
          </a:prstGeom>
          <a:solidFill>
            <a:srgbClr val="F4F8F6"/>
          </a:solidFill>
        </p:spPr>
      </p:sp>
      <p:sp>
        <p:nvSpPr>
          <p:cNvPr id="23" name="Shape 21"/>
          <p:cNvSpPr/>
          <p:nvPr/>
        </p:nvSpPr>
        <p:spPr>
          <a:xfrm>
            <a:off x="10105263" y="2103120"/>
            <a:ext cx="502920" cy="502920"/>
          </a:xfrm>
          <a:prstGeom prst="ellipse">
            <a:avLst/>
          </a:prstGeom>
          <a:solidFill>
            <a:srgbClr val="1B4332"/>
          </a:solidFill>
        </p:spPr>
      </p:sp>
      <p:sp>
        <p:nvSpPr>
          <p:cNvPr id="24" name="Text 22"/>
          <p:cNvSpPr txBox="1"/>
          <p:nvPr/>
        </p:nvSpPr>
        <p:spPr>
          <a:xfrm>
            <a:off x="10105263" y="21031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540" dirty="0"/>
          </a:p>
        </p:txBody>
      </p:sp>
      <p:sp>
        <p:nvSpPr>
          <p:cNvPr id="25" name="Text 23"/>
          <p:cNvSpPr txBox="1"/>
          <p:nvPr/>
        </p:nvSpPr>
        <p:spPr>
          <a:xfrm>
            <a:off x="9210294" y="2743200"/>
            <a:ext cx="229285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Retrain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256014" y="3108960"/>
            <a:ext cx="2201418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1D2A2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Dropped the noisy features, retrained on the remaining 15 — accuracy improved to ~54%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21208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C6B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loop — train, evaluate, diagnose, retrain — is standard ML practice, not a detour.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9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MODEL EVALUATION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Final Results on Held-Out Test Data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69494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554480"/>
            <a:ext cx="3502152" cy="4206240"/>
          </a:xfrm>
          <a:prstGeom prst="roundRect">
            <a:avLst>
              <a:gd name="adj" fmla="val 2611"/>
            </a:avLst>
          </a:prstGeom>
          <a:solidFill>
            <a:srgbClr val="1B4332"/>
          </a:solidFill>
        </p:spPr>
      </p:sp>
      <p:sp>
        <p:nvSpPr>
          <p:cNvPr id="6" name="Text 3"/>
          <p:cNvSpPr txBox="1"/>
          <p:nvPr/>
        </p:nvSpPr>
        <p:spPr>
          <a:xfrm>
            <a:off x="8412480" y="1783080"/>
            <a:ext cx="29535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Reading the result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2194560"/>
            <a:ext cx="2953512" cy="2194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Both models score only modestly above a 50% coin flip on data they've never seen. This is an honest, evidence-backed finding — not a modeling error — reflecting the well-documented unpredictability of T20 cricket outcomes.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8412480" y="4480560"/>
            <a:ext cx="295351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A9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~54%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5029200"/>
            <a:ext cx="295351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E8D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test accuracy (Logistic Regression, reduced features)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9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MODEL EVALUATION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Drives the Prediction?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08760"/>
          <a:ext cx="73152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1508760"/>
            <a:ext cx="3319272" cy="4480560"/>
          </a:xfrm>
          <a:prstGeom prst="roundRect">
            <a:avLst>
              <a:gd name="adj" fmla="val 2755"/>
            </a:avLst>
          </a:prstGeom>
          <a:solidFill>
            <a:srgbClr val="F4F8F6"/>
          </a:solidFill>
        </p:spPr>
      </p:sp>
      <p:sp>
        <p:nvSpPr>
          <p:cNvPr id="6" name="Text 3"/>
          <p:cNvSpPr txBox="1"/>
          <p:nvPr/>
        </p:nvSpPr>
        <p:spPr>
          <a:xfrm>
            <a:off x="8595360" y="1737360"/>
            <a:ext cx="277063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Random Forest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Feature Importance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2514600"/>
            <a:ext cx="2770632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D2A2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Recent scoring and bowling strength dominate the top ranks — far ahead of toss or home advantage, which fall near the bottom.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3840480"/>
            <a:ext cx="277063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A9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Takeaway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4160520"/>
            <a:ext cx="2770632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1D2A2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team's recent form on the field matters more than pre-match circumstance like toss or venue.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9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08676" cy="1920240"/>
          </a:xfrm>
          <a:prstGeom prst="roundRect">
            <a:avLst>
              <a:gd name="adj" fmla="val 4762"/>
            </a:avLst>
          </a:prstGeom>
          <a:solidFill>
            <a:srgbClr val="1B4332"/>
          </a:solidFill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8600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A9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Honest Result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94560"/>
            <a:ext cx="4860036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Both models perform only modestly better than chance — a genuine, well-diagnosed finding, not a failure.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31636" y="1600200"/>
            <a:ext cx="5408676" cy="1920240"/>
          </a:xfrm>
          <a:prstGeom prst="roundRect">
            <a:avLst>
              <a:gd name="adj" fmla="val 4762"/>
            </a:avLst>
          </a:prstGeom>
          <a:solidFill>
            <a:srgbClr val="F4F8F6"/>
          </a:solidFill>
        </p:spPr>
      </p:sp>
      <p:sp>
        <p:nvSpPr>
          <p:cNvPr id="8" name="Text 6"/>
          <p:cNvSpPr txBox="1"/>
          <p:nvPr/>
        </p:nvSpPr>
        <p:spPr>
          <a:xfrm>
            <a:off x="6505956" y="1783080"/>
            <a:ext cx="48600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Interpretability vs. Power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505956" y="2194560"/>
            <a:ext cx="4860036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D2A2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Logistic Regression explains its reasoning clearly; Random Forest captures more complex patterns at the cost of transparency.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5408676" cy="1920240"/>
          </a:xfrm>
          <a:prstGeom prst="roundRect">
            <a:avLst>
              <a:gd name="adj" fmla="val 4762"/>
            </a:avLst>
          </a:prstGeom>
          <a:solidFill>
            <a:srgbClr val="F4F8F6"/>
          </a:solidFill>
        </p:spPr>
      </p:sp>
      <p:sp>
        <p:nvSpPr>
          <p:cNvPr id="11" name="Text 9"/>
          <p:cNvSpPr txBox="1"/>
          <p:nvPr/>
        </p:nvSpPr>
        <p:spPr>
          <a:xfrm>
            <a:off x="822960" y="3931920"/>
            <a:ext cx="48600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Form Beats Circumstance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343400"/>
            <a:ext cx="4860036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D2A2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Recent scoring/bowling strength outweighs toss outcome or home advantage in driving predictions.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31636" y="3749040"/>
            <a:ext cx="5408676" cy="1920240"/>
          </a:xfrm>
          <a:prstGeom prst="roundRect">
            <a:avLst>
              <a:gd name="adj" fmla="val 4762"/>
            </a:avLst>
          </a:prstGeom>
          <a:solidFill>
            <a:srgbClr val="F4F8F6"/>
          </a:solidFill>
        </p:spPr>
      </p:sp>
      <p:sp>
        <p:nvSpPr>
          <p:cNvPr id="14" name="Text 12"/>
          <p:cNvSpPr txBox="1"/>
          <p:nvPr/>
        </p:nvSpPr>
        <p:spPr>
          <a:xfrm>
            <a:off x="6505956" y="3931920"/>
            <a:ext cx="48600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433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Future Work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505956" y="4343400"/>
            <a:ext cx="4860036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D2A2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Player-level stats, real-time data, and deep learning could uncover stronger signal beyond team-level aggregates.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4332"/>
          </a:solidFill>
        </p:spPr>
      </p:sp>
      <p:sp>
        <p:nvSpPr>
          <p:cNvPr id="5" name="Text 3"/>
          <p:cNvSpPr txBox="1"/>
          <p:nvPr/>
        </p:nvSpPr>
        <p:spPr>
          <a:xfrm>
            <a:off x="0" y="2606040"/>
            <a:ext cx="1218895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4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6477</Words>
  <Application>WPS Presentation</Application>
  <PresentationFormat>On-screen Show (16:9)</PresentationFormat>
  <Paragraphs>373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WPS_1789000899</cp:lastModifiedBy>
  <cp:revision>3</cp:revision>
  <dcterms:created xsi:type="dcterms:W3CDTF">2026-09-26T05:31:00Z</dcterms:created>
  <dcterms:modified xsi:type="dcterms:W3CDTF">2026-09-26T06:00:00Z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D2462008D41E47EB84E79CAF644CC628_13</vt:lpwstr>
  </property>
</Properties>
</file>